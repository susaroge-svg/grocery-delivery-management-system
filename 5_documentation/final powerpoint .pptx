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58" r:id="rId4"/>
    <p:sldId id="261" r:id="rId5"/>
    <p:sldId id="262" r:id="rId6"/>
    <p:sldId id="263" r:id="rId7"/>
    <p:sldId id="259" r:id="rId8"/>
    <p:sldId id="26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0" autoAdjust="0"/>
    <p:restoredTop sz="94660"/>
  </p:normalViewPr>
  <p:slideViewPr>
    <p:cSldViewPr snapToGrid="0">
      <p:cViewPr varScale="1">
        <p:scale>
          <a:sx n="111" d="100"/>
          <a:sy n="111" d="100"/>
        </p:scale>
        <p:origin x="30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D41BCC-AD73-4203-A5A6-E62EB28B0FE6}" type="datetimeFigureOut">
              <a:rPr lang="en-US" smtClean="0"/>
              <a:t>5/3/2026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D637F8FC-4B86-4690-8888-22AB2F781BEF}"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3282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D41BCC-AD73-4203-A5A6-E62EB28B0FE6}"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144469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2480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D41BCC-AD73-4203-A5A6-E62EB28B0FE6}"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926015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D41BCC-AD73-4203-A5A6-E62EB28B0FE6}" type="datetimeFigureOut">
              <a:rPr lang="en-US" smtClean="0"/>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37F8FC-4B86-4690-8888-22AB2F781BEF}"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6788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D41BCC-AD73-4203-A5A6-E62EB28B0FE6}" type="datetimeFigureOut">
              <a:rPr lang="en-US" smtClean="0"/>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37F8FC-4B86-4690-8888-22AB2F781BE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4400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D41BCC-AD73-4203-A5A6-E62EB28B0FE6}" type="datetimeFigureOut">
              <a:rPr lang="en-US" smtClean="0"/>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103227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2319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482386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pPr/>
              <a:t>5/3/2026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637F8FC-4B86-4690-8888-22AB2F781BEF}" type="slidenum">
              <a:rPr lang="en-US" smtClean="0"/>
              <a:pPr/>
              <a:t>‹#›</a:t>
            </a:fld>
            <a:endParaRPr lang="en-US"/>
          </a:p>
        </p:txBody>
      </p:sp>
    </p:spTree>
    <p:extLst>
      <p:ext uri="{BB962C8B-B14F-4D97-AF65-F5344CB8AC3E}">
        <p14:creationId xmlns:p14="http://schemas.microsoft.com/office/powerpoint/2010/main" val="2335826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37F8FC-4B86-4690-8888-22AB2F781BEF}" type="slidenum">
              <a:rPr lang="en-US" smtClean="0"/>
              <a:pPr/>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0309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37F8FC-4B86-4690-8888-22AB2F781BEF}" type="slidenum">
              <a:rPr lang="en-US" smtClean="0"/>
              <a:pPr/>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877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37F8FC-4B86-4690-8888-22AB2F781BEF}" type="slidenum">
              <a:rPr lang="en-US" smtClean="0"/>
              <a:pPr/>
              <a:t>‹#›</a:t>
            </a:fld>
            <a:endParaRPr lang="en-US"/>
          </a:p>
        </p:txBody>
      </p:sp>
    </p:spTree>
    <p:extLst>
      <p:ext uri="{BB962C8B-B14F-4D97-AF65-F5344CB8AC3E}">
        <p14:creationId xmlns:p14="http://schemas.microsoft.com/office/powerpoint/2010/main" val="716994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37F8FC-4B86-4690-8888-22AB2F781BEF}" type="slidenum">
              <a:rPr lang="en-US" smtClean="0"/>
              <a:pPr/>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57827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37F8FC-4B86-4690-8888-22AB2F781BEF}" type="slidenum">
              <a:rPr lang="en-US" smtClean="0"/>
              <a:pPr/>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93527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D41BCC-AD73-4203-A5A6-E62EB28B0FE6}"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3423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D41BCC-AD73-4203-A5A6-E62EB28B0FE6}"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617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D41BCC-AD73-4203-A5A6-E62EB28B0FE6}" type="datetimeFigureOut">
              <a:rPr lang="en-US" smtClean="0"/>
              <a:pPr/>
              <a:t>5/3/2026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637F8FC-4B86-4690-8888-22AB2F781BEF}" type="slidenum">
              <a:rPr lang="en-US" smtClean="0"/>
              <a:pPr/>
              <a:t>‹#›</a:t>
            </a:fld>
            <a:endParaRPr lang="en-US"/>
          </a:p>
        </p:txBody>
      </p:sp>
    </p:spTree>
    <p:extLst>
      <p:ext uri="{BB962C8B-B14F-4D97-AF65-F5344CB8AC3E}">
        <p14:creationId xmlns:p14="http://schemas.microsoft.com/office/powerpoint/2010/main" val="1142333195"/>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FB5D1BB-0703-437B-BD1E-1D07F8A273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3886586B-3F0F-4593-B272-AE75AD0F092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020DEB59-BF94-41B5-8F16-8B10442EE0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9A3BEF6F-FC03-43B1-8D1B-8DA3A360DBF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0F49BA32-A501-4C79-9A72-92587AB9EEF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7" name="Straight Connector 16">
            <a:extLst>
              <a:ext uri="{FF2B5EF4-FFF2-40B4-BE49-F238E27FC236}">
                <a16:creationId xmlns:a16="http://schemas.microsoft.com/office/drawing/2014/main" id="{883F92AF-2403-4558-B1D7-72130A1E4BC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5EB8E3BF-F464-4900-8994-851061A9A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Fruits and vegetables in bags">
            <a:extLst>
              <a:ext uri="{FF2B5EF4-FFF2-40B4-BE49-F238E27FC236}">
                <a16:creationId xmlns:a16="http://schemas.microsoft.com/office/drawing/2014/main" id="{43F20A72-B4C2-1472-8140-E7372B2E0F5C}"/>
              </a:ext>
            </a:extLst>
          </p:cNvPr>
          <p:cNvPicPr>
            <a:picLocks noChangeAspect="1"/>
          </p:cNvPicPr>
          <p:nvPr/>
        </p:nvPicPr>
        <p:blipFill>
          <a:blip r:embed="rId4">
            <a:alphaModFix amt="35000"/>
          </a:blip>
          <a:srcRect b="15730"/>
          <a:stretch>
            <a:fillRect/>
          </a:stretch>
        </p:blipFill>
        <p:spPr>
          <a:xfrm>
            <a:off x="-255906" y="-120320"/>
            <a:ext cx="12191980" cy="6976534"/>
          </a:xfrm>
          <a:prstGeom prst="rect">
            <a:avLst/>
          </a:prstGeom>
        </p:spPr>
      </p:pic>
      <p:cxnSp>
        <p:nvCxnSpPr>
          <p:cNvPr id="21" name="Straight Connector 20">
            <a:extLst>
              <a:ext uri="{FF2B5EF4-FFF2-40B4-BE49-F238E27FC236}">
                <a16:creationId xmlns:a16="http://schemas.microsoft.com/office/drawing/2014/main" id="{8E0602D6-3A81-42F8-AE67-1BAAFC967C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07ABB15-562D-0FAC-A75E-ECB05F3DB0D1}"/>
              </a:ext>
            </a:extLst>
          </p:cNvPr>
          <p:cNvSpPr txBox="1"/>
          <p:nvPr/>
        </p:nvSpPr>
        <p:spPr>
          <a:xfrm>
            <a:off x="1579864" y="2419680"/>
            <a:ext cx="9601196" cy="3318936"/>
          </a:xfrm>
          <a:prstGeom prst="rect">
            <a:avLst/>
          </a:prstGeom>
        </p:spPr>
        <p:txBody>
          <a:bodyPr vert="horz" lIns="91440" tIns="45720" rIns="91440" bIns="45720" rtlCol="0" anchor="t">
            <a:normAutofit fontScale="70000" lnSpcReduction="20000"/>
          </a:bodyPr>
          <a:lstStyle/>
          <a:p>
            <a:pPr>
              <a:lnSpc>
                <a:spcPct val="90000"/>
              </a:lnSpc>
              <a:spcBef>
                <a:spcPct val="20000"/>
              </a:spcBef>
              <a:spcAft>
                <a:spcPts val="600"/>
              </a:spcAft>
              <a:buClr>
                <a:schemeClr val="accent1"/>
              </a:buClr>
              <a:buSzPct val="115000"/>
              <a:buFont typeface="Arial"/>
              <a:buChar char="•"/>
            </a:pPr>
            <a:r>
              <a:rPr lang="en-US" b="1" dirty="0">
                <a:solidFill>
                  <a:srgbClr val="FFFFFF"/>
                </a:solidFill>
              </a:rPr>
              <a:t>Grocery Delivery Management System</a:t>
            </a:r>
          </a:p>
          <a:p>
            <a:pPr>
              <a:lnSpc>
                <a:spcPct val="90000"/>
              </a:lnSpc>
              <a:spcBef>
                <a:spcPct val="20000"/>
              </a:spcBef>
              <a:spcAft>
                <a:spcPts val="600"/>
              </a:spcAft>
              <a:buClr>
                <a:schemeClr val="accent1"/>
              </a:buClr>
              <a:buSzPct val="115000"/>
              <a:buFont typeface="Arial"/>
              <a:buChar char="•"/>
            </a:pPr>
            <a:endParaRPr lang="en-US" b="1"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r>
              <a:rPr lang="en-US" dirty="0">
                <a:solidFill>
                  <a:srgbClr val="FFFFFF"/>
                </a:solidFill>
              </a:rPr>
              <a:t>Susan Rogers</a:t>
            </a:r>
            <a:br>
              <a:rPr lang="en-US" dirty="0">
                <a:solidFill>
                  <a:srgbClr val="FFFFFF"/>
                </a:solidFill>
              </a:rPr>
            </a:br>
            <a:r>
              <a:rPr lang="en-US" dirty="0">
                <a:solidFill>
                  <a:srgbClr val="FFFFFF"/>
                </a:solidFill>
              </a:rPr>
              <a:t>INFO-C450 – Systems Analysis and Design</a:t>
            </a:r>
            <a:br>
              <a:rPr lang="en-US" dirty="0">
                <a:solidFill>
                  <a:srgbClr val="FFFFFF"/>
                </a:solidFill>
              </a:rPr>
            </a:br>
            <a:r>
              <a:rPr lang="en-US" dirty="0">
                <a:solidFill>
                  <a:srgbClr val="FFFFFF"/>
                </a:solidFill>
              </a:rPr>
              <a:t>Instructor: </a:t>
            </a:r>
            <a:r>
              <a:rPr lang="en-US" dirty="0" err="1">
                <a:solidFill>
                  <a:srgbClr val="FFFFFF"/>
                </a:solidFill>
              </a:rPr>
              <a:t>Jafrina</a:t>
            </a:r>
            <a:r>
              <a:rPr lang="en-US" dirty="0">
                <a:solidFill>
                  <a:srgbClr val="FFFFFF"/>
                </a:solidFill>
              </a:rPr>
              <a:t> Jabin</a:t>
            </a:r>
            <a:br>
              <a:rPr lang="en-US" dirty="0">
                <a:solidFill>
                  <a:srgbClr val="FFFFFF"/>
                </a:solidFill>
              </a:rPr>
            </a:br>
            <a:r>
              <a:rPr lang="en-US" dirty="0">
                <a:solidFill>
                  <a:srgbClr val="FFFFFF"/>
                </a:solidFill>
              </a:rPr>
              <a:t>Spring 2026</a:t>
            </a:r>
          </a:p>
          <a:p>
            <a:pPr>
              <a:lnSpc>
                <a:spcPct val="90000"/>
              </a:lnSpc>
              <a:spcBef>
                <a:spcPct val="20000"/>
              </a:spcBef>
              <a:spcAft>
                <a:spcPts val="600"/>
              </a:spcAft>
              <a:buClr>
                <a:schemeClr val="accent1"/>
              </a:buClr>
              <a:buSzPct val="115000"/>
              <a:buFont typeface="Arial"/>
              <a:buChar char="•"/>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r>
              <a:rPr lang="en-US" b="1" dirty="0">
                <a:solidFill>
                  <a:srgbClr val="FFFFFF"/>
                </a:solidFill>
              </a:rPr>
              <a:t>Project Overview</a:t>
            </a:r>
          </a:p>
          <a:p>
            <a:pPr>
              <a:lnSpc>
                <a:spcPct val="90000"/>
              </a:lnSpc>
              <a:spcBef>
                <a:spcPct val="20000"/>
              </a:spcBef>
              <a:spcAft>
                <a:spcPts val="600"/>
              </a:spcAft>
              <a:buClr>
                <a:schemeClr val="accent1"/>
              </a:buClr>
              <a:buSzPct val="115000"/>
              <a:buFont typeface="Arial"/>
              <a:buChar char="•"/>
            </a:pPr>
            <a:endParaRPr lang="en-US" b="1"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r>
              <a:rPr lang="en-US" dirty="0">
                <a:solidFill>
                  <a:srgbClr val="FFFFFF"/>
                </a:solidFill>
              </a:rPr>
              <a:t>This project presents a grocery delivery management system designed to help local grocery stores provide online ordering and delivery services. The system allows customers to browse products, place grocery orders, and track deliveries while enabling store managers and delivery staff to manage orders and delivery assignments.</a:t>
            </a: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p:txBody>
      </p:sp>
    </p:spTree>
    <p:extLst>
      <p:ext uri="{BB962C8B-B14F-4D97-AF65-F5344CB8AC3E}">
        <p14:creationId xmlns:p14="http://schemas.microsoft.com/office/powerpoint/2010/main" val="129328899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00CEF6-24FB-8526-BD30-1A93C8B34CBB}"/>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80C936FE-354C-FF1E-F1E3-6484EF333B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78E39B82-37EF-3646-DF5C-A9B7D6BF325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36C354CE-50BB-4890-A1B3-ECD37F258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B945A98C-049E-16ED-2CF1-AE8AC670C98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C085C63D-E1EA-AEFC-81CD-50E95126538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7" name="Straight Connector 16">
            <a:extLst>
              <a:ext uri="{FF2B5EF4-FFF2-40B4-BE49-F238E27FC236}">
                <a16:creationId xmlns:a16="http://schemas.microsoft.com/office/drawing/2014/main" id="{934F84E3-1B28-FFFB-5550-23514FB697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DFD226B9-C449-55BC-DAB9-CB10E08C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Fruits and vegetables in bags">
            <a:extLst>
              <a:ext uri="{FF2B5EF4-FFF2-40B4-BE49-F238E27FC236}">
                <a16:creationId xmlns:a16="http://schemas.microsoft.com/office/drawing/2014/main" id="{82C65A1F-91C8-725E-3D1D-DE82321727FA}"/>
              </a:ext>
            </a:extLst>
          </p:cNvPr>
          <p:cNvPicPr>
            <a:picLocks noChangeAspect="1"/>
          </p:cNvPicPr>
          <p:nvPr/>
        </p:nvPicPr>
        <p:blipFill>
          <a:blip r:embed="rId4">
            <a:alphaModFix amt="35000"/>
          </a:blip>
          <a:srcRect b="15730"/>
          <a:stretch>
            <a:fillRect/>
          </a:stretch>
        </p:blipFill>
        <p:spPr>
          <a:xfrm>
            <a:off x="-255906" y="-120320"/>
            <a:ext cx="12191980" cy="6976534"/>
          </a:xfrm>
          <a:prstGeom prst="rect">
            <a:avLst/>
          </a:prstGeom>
        </p:spPr>
      </p:pic>
      <p:cxnSp>
        <p:nvCxnSpPr>
          <p:cNvPr id="21" name="Straight Connector 20">
            <a:extLst>
              <a:ext uri="{FF2B5EF4-FFF2-40B4-BE49-F238E27FC236}">
                <a16:creationId xmlns:a16="http://schemas.microsoft.com/office/drawing/2014/main" id="{54036F6C-3417-36F7-80D2-42310DE272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1537D64-0D1B-4006-57AE-054E8DF393D0}"/>
              </a:ext>
            </a:extLst>
          </p:cNvPr>
          <p:cNvSpPr txBox="1"/>
          <p:nvPr/>
        </p:nvSpPr>
        <p:spPr>
          <a:xfrm>
            <a:off x="1579864" y="2419680"/>
            <a:ext cx="9601196" cy="3318936"/>
          </a:xfrm>
          <a:prstGeom prst="rect">
            <a:avLst/>
          </a:prstGeom>
        </p:spPr>
        <p:txBody>
          <a:bodyPr vert="horz" lIns="91440" tIns="45720" rIns="91440" bIns="45720" rtlCol="0" anchor="t">
            <a:normAutofit fontScale="85000" lnSpcReduction="10000"/>
          </a:bodyPr>
          <a:lstStyle/>
          <a:p>
            <a:pPr algn="ctr"/>
            <a:r>
              <a:rPr lang="en-US" b="1" dirty="0"/>
              <a:t>Problem and Solution</a:t>
            </a:r>
          </a:p>
          <a:p>
            <a:r>
              <a:rPr lang="en-US" b="1" dirty="0"/>
              <a:t>Problem</a:t>
            </a:r>
          </a:p>
          <a:p>
            <a:endParaRPr lang="en-US" b="1" dirty="0"/>
          </a:p>
          <a:p>
            <a:r>
              <a:rPr lang="en-US" dirty="0"/>
              <a:t>Many local grocery stores do not have affordable systems that allow customers to place orders online and request home delivery. Customers often spend significant time traveling to stores, searching for products, and waiting in checkout lines.</a:t>
            </a:r>
          </a:p>
          <a:p>
            <a:endParaRPr lang="en-US" dirty="0"/>
          </a:p>
          <a:p>
            <a:r>
              <a:rPr lang="en-US" b="1" dirty="0"/>
              <a:t>Solution</a:t>
            </a:r>
          </a:p>
          <a:p>
            <a:endParaRPr lang="en-US" b="1" dirty="0"/>
          </a:p>
          <a:p>
            <a:r>
              <a:rPr lang="en-US" dirty="0"/>
              <a:t>The Grocery Delivery Management System provides:</a:t>
            </a:r>
          </a:p>
          <a:p>
            <a:r>
              <a:rPr lang="en-US" dirty="0"/>
              <a:t>• Online product browsing</a:t>
            </a:r>
            <a:br>
              <a:rPr lang="en-US" dirty="0"/>
            </a:br>
            <a:r>
              <a:rPr lang="en-US" dirty="0"/>
              <a:t>• Grocery order placement</a:t>
            </a:r>
            <a:br>
              <a:rPr lang="en-US" dirty="0"/>
            </a:br>
            <a:r>
              <a:rPr lang="en-US" dirty="0"/>
              <a:t>• Inventory tracking</a:t>
            </a:r>
            <a:br>
              <a:rPr lang="en-US" dirty="0"/>
            </a:br>
            <a:r>
              <a:rPr lang="en-US" dirty="0"/>
              <a:t>• Delivery assignment</a:t>
            </a:r>
            <a:br>
              <a:rPr lang="en-US" dirty="0"/>
            </a:br>
            <a:r>
              <a:rPr lang="en-US" dirty="0"/>
              <a:t>• Delivery status tracking</a:t>
            </a:r>
          </a:p>
          <a:p>
            <a:r>
              <a:rPr lang="en-US" dirty="0"/>
              <a:t>This system improves efficiency for grocery stores and provides a convenient ordering experience for customers.</a:t>
            </a:r>
          </a:p>
          <a:p>
            <a:pPr>
              <a:lnSpc>
                <a:spcPct val="90000"/>
              </a:lnSpc>
              <a:spcBef>
                <a:spcPct val="20000"/>
              </a:spcBef>
              <a:spcAft>
                <a:spcPts val="600"/>
              </a:spcAft>
              <a:buClr>
                <a:schemeClr val="accent1"/>
              </a:buClr>
              <a:buSzPct val="115000"/>
              <a:buFont typeface="Arial"/>
              <a:buChar char="•"/>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p:txBody>
      </p:sp>
    </p:spTree>
    <p:extLst>
      <p:ext uri="{BB962C8B-B14F-4D97-AF65-F5344CB8AC3E}">
        <p14:creationId xmlns:p14="http://schemas.microsoft.com/office/powerpoint/2010/main" val="40891845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E5E214-D4F0-8B68-4711-83227A269603}"/>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C1D75543-B1C9-6E56-D67D-D767CC089E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370BD344-1DD1-F97D-C6A0-8F6DFA7E156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733B0893-9119-D713-ABF7-94677DDCB3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4A9436E2-F803-B194-1050-B0E89B82B23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7EA06094-A1F8-7F43-8E11-A546CA070F3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7" name="Straight Connector 16">
            <a:extLst>
              <a:ext uri="{FF2B5EF4-FFF2-40B4-BE49-F238E27FC236}">
                <a16:creationId xmlns:a16="http://schemas.microsoft.com/office/drawing/2014/main" id="{49EE276B-59C6-2048-1F59-159123F08D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251F247E-B2D7-D4A7-2FDE-FBBCFF3FE8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Fruits and vegetables in bags">
            <a:extLst>
              <a:ext uri="{FF2B5EF4-FFF2-40B4-BE49-F238E27FC236}">
                <a16:creationId xmlns:a16="http://schemas.microsoft.com/office/drawing/2014/main" id="{1F1EB4CE-D5DB-FEDF-AFBF-8C9B2B9F4B59}"/>
              </a:ext>
            </a:extLst>
          </p:cNvPr>
          <p:cNvPicPr>
            <a:picLocks noChangeAspect="1"/>
          </p:cNvPicPr>
          <p:nvPr/>
        </p:nvPicPr>
        <p:blipFill>
          <a:blip r:embed="rId4">
            <a:alphaModFix amt="35000"/>
          </a:blip>
          <a:srcRect b="15730"/>
          <a:stretch>
            <a:fillRect/>
          </a:stretch>
        </p:blipFill>
        <p:spPr>
          <a:xfrm>
            <a:off x="-255906" y="-120320"/>
            <a:ext cx="12191980" cy="6976534"/>
          </a:xfrm>
          <a:prstGeom prst="rect">
            <a:avLst/>
          </a:prstGeom>
        </p:spPr>
      </p:pic>
      <p:cxnSp>
        <p:nvCxnSpPr>
          <p:cNvPr id="21" name="Straight Connector 20">
            <a:extLst>
              <a:ext uri="{FF2B5EF4-FFF2-40B4-BE49-F238E27FC236}">
                <a16:creationId xmlns:a16="http://schemas.microsoft.com/office/drawing/2014/main" id="{B0BDC670-017C-3FA3-FCBC-ECD7BB8ADB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0DDF5C38-304D-612F-FB06-D0D2D23D5573}"/>
              </a:ext>
            </a:extLst>
          </p:cNvPr>
          <p:cNvSpPr txBox="1"/>
          <p:nvPr/>
        </p:nvSpPr>
        <p:spPr>
          <a:xfrm>
            <a:off x="1579864" y="2419680"/>
            <a:ext cx="9601196" cy="3318936"/>
          </a:xfrm>
          <a:prstGeom prst="rect">
            <a:avLst/>
          </a:prstGeom>
        </p:spPr>
        <p:txBody>
          <a:bodyPr vert="horz" lIns="91440" tIns="45720" rIns="91440" bIns="45720" rtlCol="0" anchor="t">
            <a:normAutofit fontScale="85000" lnSpcReduction="20000"/>
          </a:bodyPr>
          <a:lstStyle/>
          <a:p>
            <a:r>
              <a:rPr lang="en-US" b="1" dirty="0"/>
              <a:t>System Features</a:t>
            </a:r>
          </a:p>
          <a:p>
            <a:endParaRPr lang="en-US" b="1" dirty="0"/>
          </a:p>
          <a:p>
            <a:r>
              <a:rPr lang="en-US" b="1" dirty="0"/>
              <a:t>Key Features</a:t>
            </a:r>
          </a:p>
          <a:p>
            <a:r>
              <a:rPr lang="en-US" dirty="0"/>
              <a:t>• User registration and login</a:t>
            </a:r>
            <a:br>
              <a:rPr lang="en-US" dirty="0"/>
            </a:br>
            <a:r>
              <a:rPr lang="en-US" dirty="0"/>
              <a:t>• Product browsing and search</a:t>
            </a:r>
            <a:br>
              <a:rPr lang="en-US" dirty="0"/>
            </a:br>
            <a:r>
              <a:rPr lang="en-US" dirty="0"/>
              <a:t>• Shopping cart and grocery order placement</a:t>
            </a:r>
            <a:br>
              <a:rPr lang="en-US" dirty="0"/>
            </a:br>
            <a:r>
              <a:rPr lang="en-US" dirty="0"/>
              <a:t>• Inventory management for store managers</a:t>
            </a:r>
            <a:br>
              <a:rPr lang="en-US" dirty="0"/>
            </a:br>
            <a:r>
              <a:rPr lang="en-US" dirty="0"/>
              <a:t>• Delivery assignment by managers</a:t>
            </a:r>
            <a:br>
              <a:rPr lang="en-US" dirty="0"/>
            </a:br>
            <a:r>
              <a:rPr lang="en-US" dirty="0"/>
              <a:t>• Delivery tracking for customers</a:t>
            </a:r>
            <a:br>
              <a:rPr lang="en-US" dirty="0"/>
            </a:br>
            <a:r>
              <a:rPr lang="en-US" dirty="0"/>
              <a:t>• Delivery status updates by delivery staff</a:t>
            </a:r>
          </a:p>
          <a:p>
            <a:endParaRPr lang="en-US" dirty="0"/>
          </a:p>
          <a:p>
            <a:r>
              <a:rPr lang="en-US" b="1" dirty="0"/>
              <a:t>Technologies Used</a:t>
            </a:r>
          </a:p>
          <a:p>
            <a:r>
              <a:rPr lang="en-US" dirty="0"/>
              <a:t>• Java</a:t>
            </a:r>
            <a:br>
              <a:rPr lang="en-US" dirty="0"/>
            </a:br>
            <a:r>
              <a:rPr lang="en-US" dirty="0"/>
              <a:t>• NetBeans IDE</a:t>
            </a:r>
            <a:br>
              <a:rPr lang="en-US" dirty="0"/>
            </a:br>
            <a:r>
              <a:rPr lang="en-US" dirty="0"/>
              <a:t>• Java Swing interface</a:t>
            </a:r>
            <a:br>
              <a:rPr lang="en-US" dirty="0"/>
            </a:br>
            <a:r>
              <a:rPr lang="en-US" dirty="0"/>
              <a:t>• In-memory data storage using Java </a:t>
            </a:r>
            <a:r>
              <a:rPr lang="en-US" dirty="0" err="1"/>
              <a:t>ArrayLists</a:t>
            </a:r>
            <a:endParaRPr lang="en-US" dirty="0"/>
          </a:p>
          <a:p>
            <a:pPr>
              <a:lnSpc>
                <a:spcPct val="90000"/>
              </a:lnSpc>
              <a:spcBef>
                <a:spcPct val="20000"/>
              </a:spcBef>
              <a:spcAft>
                <a:spcPts val="600"/>
              </a:spcAft>
              <a:buClr>
                <a:schemeClr val="accent1"/>
              </a:buClr>
              <a:buSzPct val="115000"/>
              <a:buFont typeface="Arial"/>
              <a:buChar char="•"/>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p:txBody>
      </p:sp>
    </p:spTree>
    <p:extLst>
      <p:ext uri="{BB962C8B-B14F-4D97-AF65-F5344CB8AC3E}">
        <p14:creationId xmlns:p14="http://schemas.microsoft.com/office/powerpoint/2010/main" val="4114810280"/>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6B7EE9-0028-C79C-DA46-035AEC6E605E}"/>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FCA394DA-D79C-0338-3E24-111D10B154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F05ECAFC-D1A8-333B-D99E-83E2CDC3A9D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8BF0A81C-CAB9-CC46-3636-2D751B5547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7C85B97B-DEA2-4F5E-636B-DAF948559D0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352197F1-FF8D-A0C0-61CA-9D7AA09A631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7" name="Straight Connector 16">
            <a:extLst>
              <a:ext uri="{FF2B5EF4-FFF2-40B4-BE49-F238E27FC236}">
                <a16:creationId xmlns:a16="http://schemas.microsoft.com/office/drawing/2014/main" id="{70F5A074-1198-5C5A-A795-C90C55EED6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4C95B359-0F41-C745-23E6-4B0E4B029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Fruits and vegetables in bags">
            <a:extLst>
              <a:ext uri="{FF2B5EF4-FFF2-40B4-BE49-F238E27FC236}">
                <a16:creationId xmlns:a16="http://schemas.microsoft.com/office/drawing/2014/main" id="{D34710E9-AE8C-3E87-81BA-D35FBFD55A38}"/>
              </a:ext>
            </a:extLst>
          </p:cNvPr>
          <p:cNvPicPr>
            <a:picLocks noChangeAspect="1"/>
          </p:cNvPicPr>
          <p:nvPr/>
        </p:nvPicPr>
        <p:blipFill>
          <a:blip r:embed="rId4">
            <a:alphaModFix amt="35000"/>
          </a:blip>
          <a:srcRect b="15730"/>
          <a:stretch>
            <a:fillRect/>
          </a:stretch>
        </p:blipFill>
        <p:spPr>
          <a:xfrm>
            <a:off x="-255906" y="-120320"/>
            <a:ext cx="12191980" cy="6976534"/>
          </a:xfrm>
          <a:prstGeom prst="rect">
            <a:avLst/>
          </a:prstGeom>
        </p:spPr>
      </p:pic>
      <p:cxnSp>
        <p:nvCxnSpPr>
          <p:cNvPr id="21" name="Straight Connector 20">
            <a:extLst>
              <a:ext uri="{FF2B5EF4-FFF2-40B4-BE49-F238E27FC236}">
                <a16:creationId xmlns:a16="http://schemas.microsoft.com/office/drawing/2014/main" id="{D05E8CF1-0F5F-8F8B-D4D1-8B1AED0DD1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FBEE150-D2C8-164A-6EE6-6813E2687BCA}"/>
              </a:ext>
            </a:extLst>
          </p:cNvPr>
          <p:cNvSpPr txBox="1"/>
          <p:nvPr/>
        </p:nvSpPr>
        <p:spPr>
          <a:xfrm>
            <a:off x="1579864" y="2419680"/>
            <a:ext cx="9601196" cy="3318936"/>
          </a:xfrm>
          <a:prstGeom prst="rect">
            <a:avLst/>
          </a:prstGeom>
        </p:spPr>
        <p:txBody>
          <a:bodyPr vert="horz" lIns="91440" tIns="45720" rIns="91440" bIns="45720" rtlCol="0" anchor="t">
            <a:normAutofit/>
          </a:bodyPr>
          <a:lstStyle/>
          <a:p>
            <a:pPr algn="ctr"/>
            <a:r>
              <a:rPr lang="en-US" b="1" dirty="0"/>
              <a:t> Improvements Since Midterm</a:t>
            </a:r>
          </a:p>
          <a:p>
            <a:pPr algn="ctr"/>
            <a:endParaRPr lang="en-US" b="1" dirty="0"/>
          </a:p>
          <a:p>
            <a:pPr marL="285750" indent="-285750">
              <a:buFont typeface="Arial" panose="020B0604020202020204" pitchFamily="34" charset="0"/>
              <a:buChar char="•"/>
            </a:pPr>
            <a:r>
              <a:rPr lang="en-US" dirty="0"/>
              <a:t>Expanded system architecture and design documentation </a:t>
            </a:r>
          </a:p>
          <a:p>
            <a:pPr marL="285750" indent="-285750">
              <a:buFont typeface="Arial" panose="020B0604020202020204" pitchFamily="34" charset="0"/>
              <a:buChar char="•"/>
            </a:pPr>
            <a:r>
              <a:rPr lang="en-US" dirty="0"/>
              <a:t>Added traceability matrix to map requirements to use cases </a:t>
            </a:r>
          </a:p>
          <a:p>
            <a:pPr marL="285750" indent="-285750">
              <a:buFont typeface="Arial" panose="020B0604020202020204" pitchFamily="34" charset="0"/>
              <a:buChar char="•"/>
            </a:pPr>
            <a:r>
              <a:rPr lang="en-US" dirty="0"/>
              <a:t>Improved order processing workflow </a:t>
            </a:r>
          </a:p>
          <a:p>
            <a:pPr marL="285750" indent="-285750">
              <a:buFont typeface="Arial" panose="020B0604020202020204" pitchFamily="34" charset="0"/>
              <a:buChar char="•"/>
            </a:pPr>
            <a:r>
              <a:rPr lang="en-US" dirty="0"/>
              <a:t>Added delivery tracking functionality </a:t>
            </a:r>
          </a:p>
          <a:p>
            <a:pPr marL="285750" indent="-285750">
              <a:buFont typeface="Arial" panose="020B0604020202020204" pitchFamily="34" charset="0"/>
              <a:buChar char="•"/>
            </a:pPr>
            <a:r>
              <a:rPr lang="en-US" dirty="0"/>
              <a:t>Implemented role-based system (Customer, Manager, Delivery Staff) </a:t>
            </a:r>
          </a:p>
          <a:p>
            <a:pPr marL="285750" indent="-285750">
              <a:buFont typeface="Arial" panose="020B0604020202020204" pitchFamily="34" charset="0"/>
              <a:buChar char="•"/>
            </a:pPr>
            <a:r>
              <a:rPr lang="en-US" dirty="0"/>
              <a:t>Enhanced backend processing and automation</a:t>
            </a:r>
          </a:p>
          <a:p>
            <a:pPr>
              <a:lnSpc>
                <a:spcPct val="90000"/>
              </a:lnSpc>
              <a:spcBef>
                <a:spcPct val="20000"/>
              </a:spcBef>
              <a:spcAft>
                <a:spcPts val="600"/>
              </a:spcAft>
              <a:buClr>
                <a:schemeClr val="accent1"/>
              </a:buClr>
              <a:buSzPct val="115000"/>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p:txBody>
      </p:sp>
    </p:spTree>
    <p:extLst>
      <p:ext uri="{BB962C8B-B14F-4D97-AF65-F5344CB8AC3E}">
        <p14:creationId xmlns:p14="http://schemas.microsoft.com/office/powerpoint/2010/main" val="241346252"/>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C91231-7920-93D0-4BEE-7BD2039E12E2}"/>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0860B1B2-C630-A176-4BCF-4B97F20F54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6E110920-411C-A0CF-C44A-D8C209870E1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6BCA539E-ACD7-CF85-BAB1-77073E7C99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D626E3F5-9B07-84F6-B340-F880BAD4029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965BAF97-354C-5F54-80F9-1F5DB7E3712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7" name="Straight Connector 16">
            <a:extLst>
              <a:ext uri="{FF2B5EF4-FFF2-40B4-BE49-F238E27FC236}">
                <a16:creationId xmlns:a16="http://schemas.microsoft.com/office/drawing/2014/main" id="{0E42E49C-D20A-87B0-9A30-190B9622C6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B9B73E30-D7D7-9DDC-A18C-A3CB0E0BB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Fruits and vegetables in bags">
            <a:extLst>
              <a:ext uri="{FF2B5EF4-FFF2-40B4-BE49-F238E27FC236}">
                <a16:creationId xmlns:a16="http://schemas.microsoft.com/office/drawing/2014/main" id="{337D9A5A-940D-D90D-6CE6-B3E51063AC7C}"/>
              </a:ext>
            </a:extLst>
          </p:cNvPr>
          <p:cNvPicPr>
            <a:picLocks noChangeAspect="1"/>
          </p:cNvPicPr>
          <p:nvPr/>
        </p:nvPicPr>
        <p:blipFill>
          <a:blip r:embed="rId4">
            <a:alphaModFix amt="35000"/>
          </a:blip>
          <a:srcRect b="15730"/>
          <a:stretch>
            <a:fillRect/>
          </a:stretch>
        </p:blipFill>
        <p:spPr>
          <a:xfrm>
            <a:off x="-230027" y="-120320"/>
            <a:ext cx="12191980" cy="6976534"/>
          </a:xfrm>
          <a:prstGeom prst="rect">
            <a:avLst/>
          </a:prstGeom>
        </p:spPr>
      </p:pic>
      <p:cxnSp>
        <p:nvCxnSpPr>
          <p:cNvPr id="21" name="Straight Connector 20">
            <a:extLst>
              <a:ext uri="{FF2B5EF4-FFF2-40B4-BE49-F238E27FC236}">
                <a16:creationId xmlns:a16="http://schemas.microsoft.com/office/drawing/2014/main" id="{94338A1D-FCE8-AA81-45A5-F304EAAB90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D88F9AA-704F-D884-EA30-A6C580AE9C7C}"/>
              </a:ext>
            </a:extLst>
          </p:cNvPr>
          <p:cNvSpPr txBox="1"/>
          <p:nvPr/>
        </p:nvSpPr>
        <p:spPr>
          <a:xfrm>
            <a:off x="1579864" y="2419680"/>
            <a:ext cx="9601196" cy="3318936"/>
          </a:xfrm>
          <a:prstGeom prst="rect">
            <a:avLst/>
          </a:prstGeom>
        </p:spPr>
        <p:txBody>
          <a:bodyPr vert="horz" lIns="91440" tIns="45720" rIns="91440" bIns="45720" rtlCol="0" anchor="t">
            <a:normAutofit/>
          </a:bodyPr>
          <a:lstStyle/>
          <a:p>
            <a:pPr algn="ctr"/>
            <a:r>
              <a:rPr lang="en-US" b="1" dirty="0"/>
              <a:t> System Architecture</a:t>
            </a:r>
          </a:p>
          <a:p>
            <a:pPr algn="ctr"/>
            <a:endParaRPr lang="en-US" b="1" dirty="0"/>
          </a:p>
          <a:p>
            <a:pPr marL="285750" indent="-285750">
              <a:buFont typeface="Arial" panose="020B0604020202020204" pitchFamily="34" charset="0"/>
              <a:buChar char="•"/>
            </a:pPr>
            <a:r>
              <a:rPr lang="en-US" dirty="0"/>
              <a:t>Presentation Layer (User Interface) </a:t>
            </a:r>
          </a:p>
          <a:p>
            <a:pPr marL="285750" indent="-285750">
              <a:buFont typeface="Arial" panose="020B0604020202020204" pitchFamily="34" charset="0"/>
              <a:buChar char="•"/>
            </a:pPr>
            <a:r>
              <a:rPr lang="en-US" dirty="0"/>
              <a:t>Application Logic Layer </a:t>
            </a:r>
          </a:p>
          <a:p>
            <a:pPr marL="285750" indent="-285750">
              <a:buFont typeface="Arial" panose="020B0604020202020204" pitchFamily="34" charset="0"/>
              <a:buChar char="•"/>
            </a:pPr>
            <a:r>
              <a:rPr lang="en-US" dirty="0"/>
              <a:t>Data Handling Layer </a:t>
            </a:r>
          </a:p>
          <a:p>
            <a:pPr marL="285750" indent="-285750">
              <a:buFont typeface="Arial" panose="020B0604020202020204" pitchFamily="34" charset="0"/>
              <a:buChar char="•"/>
            </a:pPr>
            <a:r>
              <a:rPr lang="en-US" dirty="0"/>
              <a:t>Desktop-based system (single machine)</a:t>
            </a:r>
          </a:p>
          <a:p>
            <a:pPr>
              <a:lnSpc>
                <a:spcPct val="90000"/>
              </a:lnSpc>
              <a:spcBef>
                <a:spcPct val="20000"/>
              </a:spcBef>
              <a:spcAft>
                <a:spcPts val="600"/>
              </a:spcAft>
              <a:buClr>
                <a:schemeClr val="accent1"/>
              </a:buClr>
              <a:buSzPct val="115000"/>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p:txBody>
      </p:sp>
    </p:spTree>
    <p:extLst>
      <p:ext uri="{BB962C8B-B14F-4D97-AF65-F5344CB8AC3E}">
        <p14:creationId xmlns:p14="http://schemas.microsoft.com/office/powerpoint/2010/main" val="4267597108"/>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076F9A-F759-BBE9-316A-C9ECF6936A14}"/>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5266C8B8-9F02-7C35-1A4A-EC085E9834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24ED501A-0924-52A1-FBD4-F2A90E48021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5DC9559C-DC58-12EF-F849-94169D994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D431044F-AC30-C3EA-EA88-6E6B8A89D64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00C9320A-9284-0EAD-FF62-8F83251EC48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7" name="Straight Connector 16">
            <a:extLst>
              <a:ext uri="{FF2B5EF4-FFF2-40B4-BE49-F238E27FC236}">
                <a16:creationId xmlns:a16="http://schemas.microsoft.com/office/drawing/2014/main" id="{921C301E-232D-3939-65E5-1B3182FEDC6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40B879F8-DC77-98F1-81F3-A37A6BD28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Fruits and vegetables in bags">
            <a:extLst>
              <a:ext uri="{FF2B5EF4-FFF2-40B4-BE49-F238E27FC236}">
                <a16:creationId xmlns:a16="http://schemas.microsoft.com/office/drawing/2014/main" id="{390DB106-F291-BB13-AB28-F5770EAE6C61}"/>
              </a:ext>
            </a:extLst>
          </p:cNvPr>
          <p:cNvPicPr>
            <a:picLocks noChangeAspect="1"/>
          </p:cNvPicPr>
          <p:nvPr/>
        </p:nvPicPr>
        <p:blipFill>
          <a:blip r:embed="rId4">
            <a:alphaModFix amt="35000"/>
          </a:blip>
          <a:srcRect b="15730"/>
          <a:stretch>
            <a:fillRect/>
          </a:stretch>
        </p:blipFill>
        <p:spPr>
          <a:xfrm>
            <a:off x="-230027" y="-120320"/>
            <a:ext cx="12191980" cy="6976534"/>
          </a:xfrm>
          <a:prstGeom prst="rect">
            <a:avLst/>
          </a:prstGeom>
        </p:spPr>
      </p:pic>
      <p:cxnSp>
        <p:nvCxnSpPr>
          <p:cNvPr id="21" name="Straight Connector 20">
            <a:extLst>
              <a:ext uri="{FF2B5EF4-FFF2-40B4-BE49-F238E27FC236}">
                <a16:creationId xmlns:a16="http://schemas.microsoft.com/office/drawing/2014/main" id="{F1CC065B-9E46-ADFE-F2CE-0FA29DE245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87E85DF7-3DAF-E5E6-2730-4027DA3A7D05}"/>
              </a:ext>
            </a:extLst>
          </p:cNvPr>
          <p:cNvSpPr txBox="1"/>
          <p:nvPr/>
        </p:nvSpPr>
        <p:spPr>
          <a:xfrm>
            <a:off x="1579864" y="2419680"/>
            <a:ext cx="9601196" cy="3318936"/>
          </a:xfrm>
          <a:prstGeom prst="rect">
            <a:avLst/>
          </a:prstGeom>
        </p:spPr>
        <p:txBody>
          <a:bodyPr vert="horz" lIns="91440" tIns="45720" rIns="91440" bIns="45720" rtlCol="0" anchor="t">
            <a:normAutofit/>
          </a:bodyPr>
          <a:lstStyle/>
          <a:p>
            <a:pPr algn="ctr"/>
            <a:r>
              <a:rPr lang="en-US" b="1" dirty="0"/>
              <a:t> Design Artifacts</a:t>
            </a:r>
          </a:p>
          <a:p>
            <a:pPr algn="ctr"/>
            <a:endParaRPr lang="en-US" b="1" dirty="0"/>
          </a:p>
          <a:p>
            <a:pPr marL="285750" indent="-285750">
              <a:buFont typeface="Arial" panose="020B0604020202020204" pitchFamily="34" charset="0"/>
              <a:buChar char="•"/>
            </a:pPr>
            <a:r>
              <a:rPr lang="en-US" dirty="0"/>
              <a:t>Traceability Matrix </a:t>
            </a:r>
          </a:p>
          <a:p>
            <a:pPr marL="285750" indent="-285750">
              <a:buFont typeface="Arial" panose="020B0604020202020204" pitchFamily="34" charset="0"/>
              <a:buChar char="•"/>
            </a:pPr>
            <a:r>
              <a:rPr lang="en-US" dirty="0"/>
              <a:t>Use Case Diagram </a:t>
            </a:r>
          </a:p>
          <a:p>
            <a:pPr marL="285750" indent="-285750">
              <a:buFont typeface="Arial" panose="020B0604020202020204" pitchFamily="34" charset="0"/>
              <a:buChar char="•"/>
            </a:pPr>
            <a:r>
              <a:rPr lang="en-US" dirty="0"/>
              <a:t>Data Flow Diagram </a:t>
            </a:r>
          </a:p>
          <a:p>
            <a:pPr marL="285750" indent="-285750">
              <a:buFont typeface="Arial" panose="020B0604020202020204" pitchFamily="34" charset="0"/>
              <a:buChar char="•"/>
            </a:pPr>
            <a:r>
              <a:rPr lang="en-US" dirty="0"/>
              <a:t>Class Diagram </a:t>
            </a:r>
          </a:p>
          <a:p>
            <a:pPr marL="285750" indent="-285750">
              <a:buFont typeface="Arial" panose="020B0604020202020204" pitchFamily="34" charset="0"/>
              <a:buChar char="•"/>
            </a:pPr>
            <a:r>
              <a:rPr lang="en-US" dirty="0"/>
              <a:t>User Interface Design</a:t>
            </a:r>
          </a:p>
          <a:p>
            <a:pPr>
              <a:lnSpc>
                <a:spcPct val="90000"/>
              </a:lnSpc>
              <a:spcBef>
                <a:spcPct val="20000"/>
              </a:spcBef>
              <a:spcAft>
                <a:spcPts val="600"/>
              </a:spcAft>
              <a:buClr>
                <a:schemeClr val="accent1"/>
              </a:buClr>
              <a:buSzPct val="115000"/>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p:txBody>
      </p:sp>
    </p:spTree>
    <p:extLst>
      <p:ext uri="{BB962C8B-B14F-4D97-AF65-F5344CB8AC3E}">
        <p14:creationId xmlns:p14="http://schemas.microsoft.com/office/powerpoint/2010/main" val="1537184228"/>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58FE82-9CC8-EA64-AEDF-79BEA84B7E4C}"/>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436A5040-A1E9-CE6A-E50C-C3B6F912D0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C7CB7B8D-8881-78B1-7E9B-E5759D31ECF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BA7F11B8-4763-C694-EA75-957696D937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735B8525-03B6-A247-BC36-5BF74D683B2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890437F6-03FF-AF46-87D6-23E8C31C18B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7" name="Straight Connector 16">
            <a:extLst>
              <a:ext uri="{FF2B5EF4-FFF2-40B4-BE49-F238E27FC236}">
                <a16:creationId xmlns:a16="http://schemas.microsoft.com/office/drawing/2014/main" id="{3BFE060C-C2D9-CA4B-8842-35105379E9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A80CB6D9-9A43-FFA8-FFA1-497E83D30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Fruits and vegetables in bags">
            <a:extLst>
              <a:ext uri="{FF2B5EF4-FFF2-40B4-BE49-F238E27FC236}">
                <a16:creationId xmlns:a16="http://schemas.microsoft.com/office/drawing/2014/main" id="{B7934F13-DE95-F3DB-9C40-496162B5926E}"/>
              </a:ext>
            </a:extLst>
          </p:cNvPr>
          <p:cNvPicPr>
            <a:picLocks noChangeAspect="1"/>
          </p:cNvPicPr>
          <p:nvPr/>
        </p:nvPicPr>
        <p:blipFill>
          <a:blip r:embed="rId4">
            <a:alphaModFix amt="35000"/>
          </a:blip>
          <a:srcRect b="15730"/>
          <a:stretch>
            <a:fillRect/>
          </a:stretch>
        </p:blipFill>
        <p:spPr>
          <a:xfrm>
            <a:off x="-255906" y="-120320"/>
            <a:ext cx="12191980" cy="6976534"/>
          </a:xfrm>
          <a:prstGeom prst="rect">
            <a:avLst/>
          </a:prstGeom>
        </p:spPr>
      </p:pic>
      <p:cxnSp>
        <p:nvCxnSpPr>
          <p:cNvPr id="21" name="Straight Connector 20">
            <a:extLst>
              <a:ext uri="{FF2B5EF4-FFF2-40B4-BE49-F238E27FC236}">
                <a16:creationId xmlns:a16="http://schemas.microsoft.com/office/drawing/2014/main" id="{099C1524-E717-7062-31C0-E9B1DFDE84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8A9A508E-BC4D-2923-B570-0B4F808B0876}"/>
              </a:ext>
            </a:extLst>
          </p:cNvPr>
          <p:cNvSpPr txBox="1"/>
          <p:nvPr/>
        </p:nvSpPr>
        <p:spPr>
          <a:xfrm>
            <a:off x="1579864" y="2419680"/>
            <a:ext cx="9601196" cy="3318936"/>
          </a:xfrm>
          <a:prstGeom prst="rect">
            <a:avLst/>
          </a:prstGeom>
        </p:spPr>
        <p:txBody>
          <a:bodyPr vert="horz" lIns="91440" tIns="45720" rIns="91440" bIns="45720" rtlCol="0" anchor="t">
            <a:normAutofit/>
          </a:bodyPr>
          <a:lstStyle/>
          <a:p>
            <a:pPr algn="ctr"/>
            <a:r>
              <a:rPr lang="en-US" b="1" dirty="0"/>
              <a:t>Live Demo</a:t>
            </a:r>
          </a:p>
          <a:p>
            <a:endParaRPr lang="en-US" b="1" dirty="0"/>
          </a:p>
          <a:p>
            <a:pPr>
              <a:lnSpc>
                <a:spcPct val="90000"/>
              </a:lnSpc>
              <a:spcBef>
                <a:spcPct val="20000"/>
              </a:spcBef>
              <a:spcAft>
                <a:spcPts val="600"/>
              </a:spcAft>
              <a:buClr>
                <a:schemeClr val="accent1"/>
              </a:buClr>
              <a:buSzPct val="115000"/>
            </a:pPr>
            <a:endParaRPr lang="en-US"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a:p>
            <a:pPr>
              <a:lnSpc>
                <a:spcPct val="90000"/>
              </a:lnSpc>
              <a:spcBef>
                <a:spcPct val="20000"/>
              </a:spcBef>
              <a:spcAft>
                <a:spcPts val="600"/>
              </a:spcAft>
              <a:buClr>
                <a:schemeClr val="accent1"/>
              </a:buClr>
              <a:buSzPct val="115000"/>
              <a:buFont typeface="Arial"/>
              <a:buChar char="•"/>
            </a:pPr>
            <a:endParaRPr lang="en-US" sz="1100" dirty="0">
              <a:solidFill>
                <a:srgbClr val="FFFFFF"/>
              </a:solidFill>
            </a:endParaRPr>
          </a:p>
        </p:txBody>
      </p:sp>
      <p:sp>
        <p:nvSpPr>
          <p:cNvPr id="3" name="Rectangle 2">
            <a:extLst>
              <a:ext uri="{FF2B5EF4-FFF2-40B4-BE49-F238E27FC236}">
                <a16:creationId xmlns:a16="http://schemas.microsoft.com/office/drawing/2014/main" id="{6718EA72-6D76-8613-D3E8-BA8E25BB5743}"/>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E03B4B65-0AF6-5498-E37C-2AB830925305}"/>
              </a:ext>
            </a:extLst>
          </p:cNvPr>
          <p:cNvSpPr txBox="1"/>
          <p:nvPr/>
        </p:nvSpPr>
        <p:spPr>
          <a:xfrm>
            <a:off x="1557638" y="1909896"/>
            <a:ext cx="6288504" cy="230832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Place Order (core workflow)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Delivery Tracking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Manager Functionality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System Automation </a:t>
            </a:r>
          </a:p>
        </p:txBody>
      </p:sp>
    </p:spTree>
    <p:extLst>
      <p:ext uri="{BB962C8B-B14F-4D97-AF65-F5344CB8AC3E}">
        <p14:creationId xmlns:p14="http://schemas.microsoft.com/office/powerpoint/2010/main" val="2853519484"/>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46DAEB-FEFE-65C3-9A0E-9DE53B209CA0}"/>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C71A9921-6ABB-FA01-D834-FF76C9CBAD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2" name="Picture 11">
              <a:extLst>
                <a:ext uri="{FF2B5EF4-FFF2-40B4-BE49-F238E27FC236}">
                  <a16:creationId xmlns:a16="http://schemas.microsoft.com/office/drawing/2014/main" id="{1BE23B65-2678-FE8B-2C5C-BC716DE650A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D4510F8A-4294-AF91-2D70-A08A10FA7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DC31556D-FE1D-9ED2-F3DC-A4583BC85FF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E74D3977-38AC-6F3E-BEE1-0E90AEB5A2F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7" name="Straight Connector 16">
            <a:extLst>
              <a:ext uri="{FF2B5EF4-FFF2-40B4-BE49-F238E27FC236}">
                <a16:creationId xmlns:a16="http://schemas.microsoft.com/office/drawing/2014/main" id="{32B0D49D-C740-4847-43D7-B4337762EF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6E514100-5EFE-5890-BDA5-F70678367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Fruits and vegetables in bags">
            <a:extLst>
              <a:ext uri="{FF2B5EF4-FFF2-40B4-BE49-F238E27FC236}">
                <a16:creationId xmlns:a16="http://schemas.microsoft.com/office/drawing/2014/main" id="{E7673B8F-098B-651C-FB56-C05F5AFB0081}"/>
              </a:ext>
            </a:extLst>
          </p:cNvPr>
          <p:cNvPicPr>
            <a:picLocks noChangeAspect="1"/>
          </p:cNvPicPr>
          <p:nvPr/>
        </p:nvPicPr>
        <p:blipFill>
          <a:blip r:embed="rId4">
            <a:alphaModFix amt="35000"/>
          </a:blip>
          <a:srcRect b="15730"/>
          <a:stretch>
            <a:fillRect/>
          </a:stretch>
        </p:blipFill>
        <p:spPr>
          <a:xfrm>
            <a:off x="-255906" y="-120320"/>
            <a:ext cx="12191980" cy="6976534"/>
          </a:xfrm>
          <a:prstGeom prst="rect">
            <a:avLst/>
          </a:prstGeom>
        </p:spPr>
      </p:pic>
      <p:cxnSp>
        <p:nvCxnSpPr>
          <p:cNvPr id="21" name="Straight Connector 20">
            <a:extLst>
              <a:ext uri="{FF2B5EF4-FFF2-40B4-BE49-F238E27FC236}">
                <a16:creationId xmlns:a16="http://schemas.microsoft.com/office/drawing/2014/main" id="{A77DBDC3-9D3F-76BD-B6D4-3C8193BB46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97D38B8-C004-B38E-5913-8798A29BF0BB}"/>
              </a:ext>
            </a:extLst>
          </p:cNvPr>
          <p:cNvSpPr txBox="1"/>
          <p:nvPr/>
        </p:nvSpPr>
        <p:spPr>
          <a:xfrm>
            <a:off x="1579864" y="2419680"/>
            <a:ext cx="9601196" cy="3318936"/>
          </a:xfrm>
          <a:prstGeom prst="rect">
            <a:avLst/>
          </a:prstGeom>
        </p:spPr>
        <p:txBody>
          <a:bodyPr vert="horz" lIns="91440" tIns="45720" rIns="91440" bIns="45720" rtlCol="0" anchor="t">
            <a:normAutofit lnSpcReduction="10000"/>
          </a:bodyPr>
          <a:lstStyle/>
          <a:p>
            <a:pPr algn="ctr"/>
            <a:r>
              <a:rPr lang="en-US" b="1" dirty="0"/>
              <a:t>Future Development</a:t>
            </a:r>
          </a:p>
          <a:p>
            <a:r>
              <a:rPr lang="en-US" dirty="0"/>
              <a:t>Additional features could include:</a:t>
            </a:r>
          </a:p>
          <a:p>
            <a:endParaRPr lang="en-US" dirty="0"/>
          </a:p>
          <a:p>
            <a:r>
              <a:rPr lang="en-US" dirty="0"/>
              <a:t>• Integration with payment processing systems</a:t>
            </a:r>
            <a:br>
              <a:rPr lang="en-US" dirty="0"/>
            </a:br>
            <a:r>
              <a:rPr lang="en-US" dirty="0"/>
              <a:t>• Real-time inventory synchronization with store databases</a:t>
            </a:r>
            <a:br>
              <a:rPr lang="en-US" dirty="0"/>
            </a:br>
            <a:r>
              <a:rPr lang="en-US" dirty="0"/>
              <a:t>• Mobile application support</a:t>
            </a:r>
            <a:br>
              <a:rPr lang="en-US" dirty="0"/>
            </a:br>
            <a:r>
              <a:rPr lang="en-US" dirty="0"/>
              <a:t>• Enhanced delivery route optimization</a:t>
            </a:r>
            <a:br>
              <a:rPr lang="en-US" dirty="0"/>
            </a:br>
            <a:r>
              <a:rPr lang="en-US" dirty="0"/>
              <a:t>• Notifications via email or SMS</a:t>
            </a:r>
          </a:p>
          <a:p>
            <a:r>
              <a:rPr lang="en-US" dirty="0"/>
              <a:t>• Transition to database-base storage</a:t>
            </a:r>
          </a:p>
          <a:p>
            <a:endParaRPr lang="en-US" dirty="0"/>
          </a:p>
          <a:p>
            <a:endParaRPr lang="en-US" dirty="0"/>
          </a:p>
          <a:p>
            <a:r>
              <a:rPr lang="en-US" dirty="0"/>
              <a:t>.</a:t>
            </a:r>
          </a:p>
        </p:txBody>
      </p:sp>
    </p:spTree>
    <p:extLst>
      <p:ext uri="{BB962C8B-B14F-4D97-AF65-F5344CB8AC3E}">
        <p14:creationId xmlns:p14="http://schemas.microsoft.com/office/powerpoint/2010/main" val="610405298"/>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172</TotalTime>
  <Words>373</Words>
  <Application>Microsoft Office PowerPoint</Application>
  <PresentationFormat>Widescreen</PresentationFormat>
  <Paragraphs>142</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Garamond</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Susan L Rogers</dc:creator>
  <cp:lastModifiedBy>Susan L Rogers</cp:lastModifiedBy>
  <cp:revision>4</cp:revision>
  <dcterms:created xsi:type="dcterms:W3CDTF">2026-03-08T02:41:20Z</dcterms:created>
  <dcterms:modified xsi:type="dcterms:W3CDTF">2026-05-03T22:41:35Z</dcterms:modified>
</cp:coreProperties>
</file>