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94660"/>
  </p:normalViewPr>
  <p:slideViewPr>
    <p:cSldViewPr snapToGrid="0">
      <p:cViewPr varScale="1">
        <p:scale>
          <a:sx n="111" d="100"/>
          <a:sy n="111" d="100"/>
        </p:scale>
        <p:origin x="30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D41BCC-AD73-4203-A5A6-E62EB28B0FE6}" type="datetimeFigureOut">
              <a:rPr lang="en-US" smtClean="0"/>
              <a:t>3/7/2026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637F8FC-4B86-4690-8888-22AB2F781BE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328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41BCC-AD73-4203-A5A6-E62EB28B0FE6}"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144469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2480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D41BCC-AD73-4203-A5A6-E62EB28B0FE6}"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92601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D41BCC-AD73-4203-A5A6-E62EB28B0FE6}"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678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D41BCC-AD73-4203-A5A6-E62EB28B0FE6}"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440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103227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2319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82386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pPr/>
              <a:t>3/7/2026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37F8FC-4B86-4690-8888-22AB2F781BEF}" type="slidenum">
              <a:rPr lang="en-US" smtClean="0"/>
              <a:pPr/>
              <a:t>‹#›</a:t>
            </a:fld>
            <a:endParaRPr lang="en-US"/>
          </a:p>
        </p:txBody>
      </p:sp>
    </p:spTree>
    <p:extLst>
      <p:ext uri="{BB962C8B-B14F-4D97-AF65-F5344CB8AC3E}">
        <p14:creationId xmlns:p14="http://schemas.microsoft.com/office/powerpoint/2010/main" val="233582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3/7/2026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0309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3/7/2026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877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3/7/2026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spTree>
    <p:extLst>
      <p:ext uri="{BB962C8B-B14F-4D97-AF65-F5344CB8AC3E}">
        <p14:creationId xmlns:p14="http://schemas.microsoft.com/office/powerpoint/2010/main" val="716994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3/7/2026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5782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3/7/2026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9352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41BCC-AD73-4203-A5A6-E62EB28B0FE6}"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3423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41BCC-AD73-4203-A5A6-E62EB28B0FE6}"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617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D41BCC-AD73-4203-A5A6-E62EB28B0FE6}" type="datetimeFigureOut">
              <a:rPr lang="en-US" smtClean="0"/>
              <a:pPr/>
              <a:t>3/7/2026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114233319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FB5D1BB-0703-437B-BD1E-1D07F8A27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3886586B-3F0F-4593-B272-AE75AD0F09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020DEB59-BF94-41B5-8F16-8B10442EE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9A3BEF6F-FC03-43B1-8D1B-8DA3A360DB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0F49BA32-A501-4C79-9A72-92587AB9EE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883F92AF-2403-4558-B1D7-72130A1E4B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43F20A72-B4C2-1472-8140-E7372B2E0F5C}"/>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07ABB15-562D-0FAC-A75E-ECB05F3DB0D1}"/>
              </a:ext>
            </a:extLst>
          </p:cNvPr>
          <p:cNvSpPr txBox="1"/>
          <p:nvPr/>
        </p:nvSpPr>
        <p:spPr>
          <a:xfrm>
            <a:off x="1579864" y="2419680"/>
            <a:ext cx="9601196" cy="3318936"/>
          </a:xfrm>
          <a:prstGeom prst="rect">
            <a:avLst/>
          </a:prstGeom>
        </p:spPr>
        <p:txBody>
          <a:bodyPr vert="horz" lIns="91440" tIns="45720" rIns="91440" bIns="45720" rtlCol="0" anchor="t">
            <a:normAutofit fontScale="70000" lnSpcReduction="20000"/>
          </a:bodyPr>
          <a:lstStyle/>
          <a:p>
            <a:pPr>
              <a:lnSpc>
                <a:spcPct val="90000"/>
              </a:lnSpc>
              <a:spcBef>
                <a:spcPct val="20000"/>
              </a:spcBef>
              <a:spcAft>
                <a:spcPts val="600"/>
              </a:spcAft>
              <a:buClr>
                <a:schemeClr val="accent1"/>
              </a:buClr>
              <a:buSzPct val="115000"/>
              <a:buFont typeface="Arial"/>
              <a:buChar char="•"/>
            </a:pPr>
            <a:r>
              <a:rPr lang="en-US" b="1" dirty="0">
                <a:solidFill>
                  <a:srgbClr val="FFFFFF"/>
                </a:solidFill>
              </a:rPr>
              <a:t>Grocery Delivery Management System</a:t>
            </a:r>
          </a:p>
          <a:p>
            <a:pPr>
              <a:lnSpc>
                <a:spcPct val="90000"/>
              </a:lnSpc>
              <a:spcBef>
                <a:spcPct val="20000"/>
              </a:spcBef>
              <a:spcAft>
                <a:spcPts val="600"/>
              </a:spcAft>
              <a:buClr>
                <a:schemeClr val="accent1"/>
              </a:buClr>
              <a:buSzPct val="115000"/>
              <a:buFont typeface="Arial"/>
              <a:buChar char="•"/>
            </a:pPr>
            <a:endParaRPr lang="en-US" b="1"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r>
              <a:rPr lang="en-US" dirty="0">
                <a:solidFill>
                  <a:srgbClr val="FFFFFF"/>
                </a:solidFill>
              </a:rPr>
              <a:t>Susan Rogers</a:t>
            </a:r>
            <a:br>
              <a:rPr lang="en-US" dirty="0">
                <a:solidFill>
                  <a:srgbClr val="FFFFFF"/>
                </a:solidFill>
              </a:rPr>
            </a:br>
            <a:r>
              <a:rPr lang="en-US" dirty="0">
                <a:solidFill>
                  <a:srgbClr val="FFFFFF"/>
                </a:solidFill>
              </a:rPr>
              <a:t>INFO-C450 – Systems Analysis and Design</a:t>
            </a:r>
            <a:br>
              <a:rPr lang="en-US" dirty="0">
                <a:solidFill>
                  <a:srgbClr val="FFFFFF"/>
                </a:solidFill>
              </a:rPr>
            </a:br>
            <a:r>
              <a:rPr lang="en-US" dirty="0">
                <a:solidFill>
                  <a:srgbClr val="FFFFFF"/>
                </a:solidFill>
              </a:rPr>
              <a:t>Instructor: </a:t>
            </a:r>
            <a:r>
              <a:rPr lang="en-US" dirty="0" err="1">
                <a:solidFill>
                  <a:srgbClr val="FFFFFF"/>
                </a:solidFill>
              </a:rPr>
              <a:t>Jafrina</a:t>
            </a:r>
            <a:r>
              <a:rPr lang="en-US" dirty="0">
                <a:solidFill>
                  <a:srgbClr val="FFFFFF"/>
                </a:solidFill>
              </a:rPr>
              <a:t> Jabin</a:t>
            </a:r>
            <a:br>
              <a:rPr lang="en-US" dirty="0">
                <a:solidFill>
                  <a:srgbClr val="FFFFFF"/>
                </a:solidFill>
              </a:rPr>
            </a:br>
            <a:r>
              <a:rPr lang="en-US" dirty="0">
                <a:solidFill>
                  <a:srgbClr val="FFFFFF"/>
                </a:solidFill>
              </a:rPr>
              <a:t>Spring 2026</a:t>
            </a: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r>
              <a:rPr lang="en-US" b="1" dirty="0">
                <a:solidFill>
                  <a:srgbClr val="FFFFFF"/>
                </a:solidFill>
              </a:rPr>
              <a:t>Project Overview</a:t>
            </a:r>
          </a:p>
          <a:p>
            <a:pPr>
              <a:lnSpc>
                <a:spcPct val="90000"/>
              </a:lnSpc>
              <a:spcBef>
                <a:spcPct val="20000"/>
              </a:spcBef>
              <a:spcAft>
                <a:spcPts val="600"/>
              </a:spcAft>
              <a:buClr>
                <a:schemeClr val="accent1"/>
              </a:buClr>
              <a:buSzPct val="115000"/>
              <a:buFont typeface="Arial"/>
              <a:buChar char="•"/>
            </a:pPr>
            <a:endParaRPr lang="en-US" b="1"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r>
              <a:rPr lang="en-US" dirty="0">
                <a:solidFill>
                  <a:srgbClr val="FFFFFF"/>
                </a:solidFill>
              </a:rPr>
              <a:t>This project presents a grocery delivery management system designed to help local grocery stores provide online ordering and delivery services. The system allows customers to browse products, place grocery orders, and track deliveries while enabling store managers and delivery staff to manage orders and delivery assignments.</a:t>
            </a: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129328899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00CEF6-24FB-8526-BD30-1A93C8B34CBB}"/>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80C936FE-354C-FF1E-F1E3-6484EF333B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78E39B82-37EF-3646-DF5C-A9B7D6BF325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36C354CE-50BB-4890-A1B3-ECD37F258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B945A98C-049E-16ED-2CF1-AE8AC670C98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C085C63D-E1EA-AEFC-81CD-50E95126538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934F84E3-1B28-FFFB-5550-23514FB697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DFD226B9-C449-55BC-DAB9-CB10E08C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82C65A1F-91C8-725E-3D1D-DE82321727FA}"/>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54036F6C-3417-36F7-80D2-42310DE272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1537D64-0D1B-4006-57AE-054E8DF393D0}"/>
              </a:ext>
            </a:extLst>
          </p:cNvPr>
          <p:cNvSpPr txBox="1"/>
          <p:nvPr/>
        </p:nvSpPr>
        <p:spPr>
          <a:xfrm>
            <a:off x="1579864" y="2419680"/>
            <a:ext cx="9601196" cy="3318936"/>
          </a:xfrm>
          <a:prstGeom prst="rect">
            <a:avLst/>
          </a:prstGeom>
        </p:spPr>
        <p:txBody>
          <a:bodyPr vert="horz" lIns="91440" tIns="45720" rIns="91440" bIns="45720" rtlCol="0" anchor="t">
            <a:normAutofit fontScale="85000" lnSpcReduction="10000"/>
          </a:bodyPr>
          <a:lstStyle/>
          <a:p>
            <a:pPr algn="ctr"/>
            <a:r>
              <a:rPr lang="en-US" b="1" dirty="0"/>
              <a:t>Problem and Solution</a:t>
            </a:r>
          </a:p>
          <a:p>
            <a:r>
              <a:rPr lang="en-US" b="1" dirty="0"/>
              <a:t>Problem</a:t>
            </a:r>
          </a:p>
          <a:p>
            <a:endParaRPr lang="en-US" b="1" dirty="0"/>
          </a:p>
          <a:p>
            <a:r>
              <a:rPr lang="en-US" dirty="0"/>
              <a:t>Many local grocery stores do not have affordable systems that allow customers to place orders online and request home delivery. Customers often spend significant time traveling to stores, searching for products, and waiting in checkout lines.</a:t>
            </a:r>
          </a:p>
          <a:p>
            <a:endParaRPr lang="en-US" dirty="0"/>
          </a:p>
          <a:p>
            <a:r>
              <a:rPr lang="en-US" b="1" dirty="0"/>
              <a:t>Solution</a:t>
            </a:r>
          </a:p>
          <a:p>
            <a:endParaRPr lang="en-US" b="1" dirty="0"/>
          </a:p>
          <a:p>
            <a:r>
              <a:rPr lang="en-US" dirty="0"/>
              <a:t>The Grocery Delivery Management System provides:</a:t>
            </a:r>
          </a:p>
          <a:p>
            <a:r>
              <a:rPr lang="en-US" dirty="0"/>
              <a:t>• Online product browsing</a:t>
            </a:r>
            <a:br>
              <a:rPr lang="en-US" dirty="0"/>
            </a:br>
            <a:r>
              <a:rPr lang="en-US" dirty="0"/>
              <a:t>• Grocery order placement</a:t>
            </a:r>
            <a:br>
              <a:rPr lang="en-US" dirty="0"/>
            </a:br>
            <a:r>
              <a:rPr lang="en-US" dirty="0"/>
              <a:t>• Inventory tracking</a:t>
            </a:r>
            <a:br>
              <a:rPr lang="en-US" dirty="0"/>
            </a:br>
            <a:r>
              <a:rPr lang="en-US" dirty="0"/>
              <a:t>• Delivery assignment</a:t>
            </a:r>
            <a:br>
              <a:rPr lang="en-US" dirty="0"/>
            </a:br>
            <a:r>
              <a:rPr lang="en-US" dirty="0"/>
              <a:t>• Delivery status tracking</a:t>
            </a:r>
          </a:p>
          <a:p>
            <a:r>
              <a:rPr lang="en-US" dirty="0"/>
              <a:t>This system improves efficiency for grocery stores and provides a convenient ordering experience for customers.</a:t>
            </a: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40891845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E5E214-D4F0-8B68-4711-83227A269603}"/>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1D75543-B1C9-6E56-D67D-D767CC089E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370BD344-1DD1-F97D-C6A0-8F6DFA7E15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733B0893-9119-D713-ABF7-94677DDCB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4A9436E2-F803-B194-1050-B0E89B82B23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7EA06094-A1F8-7F43-8E11-A546CA070F3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49EE276B-59C6-2048-1F59-159123F08D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251F247E-B2D7-D4A7-2FDE-FBBCFF3FE8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1F1EB4CE-D5DB-FEDF-AFBF-8C9B2B9F4B59}"/>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B0BDC670-017C-3FA3-FCBC-ECD7BB8ADB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DDF5C38-304D-612F-FB06-D0D2D23D5573}"/>
              </a:ext>
            </a:extLst>
          </p:cNvPr>
          <p:cNvSpPr txBox="1"/>
          <p:nvPr/>
        </p:nvSpPr>
        <p:spPr>
          <a:xfrm>
            <a:off x="1579864" y="2419680"/>
            <a:ext cx="9601196" cy="3318936"/>
          </a:xfrm>
          <a:prstGeom prst="rect">
            <a:avLst/>
          </a:prstGeom>
        </p:spPr>
        <p:txBody>
          <a:bodyPr vert="horz" lIns="91440" tIns="45720" rIns="91440" bIns="45720" rtlCol="0" anchor="t">
            <a:normAutofit fontScale="85000" lnSpcReduction="20000"/>
          </a:bodyPr>
          <a:lstStyle/>
          <a:p>
            <a:r>
              <a:rPr lang="en-US" b="1" dirty="0"/>
              <a:t>System Features</a:t>
            </a:r>
          </a:p>
          <a:p>
            <a:endParaRPr lang="en-US" b="1" dirty="0"/>
          </a:p>
          <a:p>
            <a:r>
              <a:rPr lang="en-US" b="1" dirty="0"/>
              <a:t>Key Features</a:t>
            </a:r>
          </a:p>
          <a:p>
            <a:r>
              <a:rPr lang="en-US" dirty="0"/>
              <a:t>• User registration and login</a:t>
            </a:r>
            <a:br>
              <a:rPr lang="en-US" dirty="0"/>
            </a:br>
            <a:r>
              <a:rPr lang="en-US" dirty="0"/>
              <a:t>• Product browsing and search</a:t>
            </a:r>
            <a:br>
              <a:rPr lang="en-US" dirty="0"/>
            </a:br>
            <a:r>
              <a:rPr lang="en-US" dirty="0"/>
              <a:t>• Shopping cart and grocery order placement</a:t>
            </a:r>
            <a:br>
              <a:rPr lang="en-US" dirty="0"/>
            </a:br>
            <a:r>
              <a:rPr lang="en-US" dirty="0"/>
              <a:t>• Inventory management for store managers</a:t>
            </a:r>
            <a:br>
              <a:rPr lang="en-US" dirty="0"/>
            </a:br>
            <a:r>
              <a:rPr lang="en-US" dirty="0"/>
              <a:t>• Delivery assignment by managers</a:t>
            </a:r>
            <a:br>
              <a:rPr lang="en-US" dirty="0"/>
            </a:br>
            <a:r>
              <a:rPr lang="en-US" dirty="0"/>
              <a:t>• Delivery tracking for customers</a:t>
            </a:r>
            <a:br>
              <a:rPr lang="en-US" dirty="0"/>
            </a:br>
            <a:r>
              <a:rPr lang="en-US" dirty="0"/>
              <a:t>• Delivery status updates by delivery staff</a:t>
            </a:r>
          </a:p>
          <a:p>
            <a:endParaRPr lang="en-US" dirty="0"/>
          </a:p>
          <a:p>
            <a:r>
              <a:rPr lang="en-US" b="1" dirty="0"/>
              <a:t>Technologies Used</a:t>
            </a:r>
          </a:p>
          <a:p>
            <a:r>
              <a:rPr lang="en-US" dirty="0"/>
              <a:t>• Java</a:t>
            </a:r>
            <a:br>
              <a:rPr lang="en-US" dirty="0"/>
            </a:br>
            <a:r>
              <a:rPr lang="en-US" dirty="0"/>
              <a:t>• NetBeans IDE</a:t>
            </a:r>
            <a:br>
              <a:rPr lang="en-US" dirty="0"/>
            </a:br>
            <a:r>
              <a:rPr lang="en-US" dirty="0"/>
              <a:t>• Java Swing interface</a:t>
            </a:r>
            <a:br>
              <a:rPr lang="en-US" dirty="0"/>
            </a:br>
            <a:r>
              <a:rPr lang="en-US" dirty="0"/>
              <a:t>• In-memory data storage using Java </a:t>
            </a:r>
            <a:r>
              <a:rPr lang="en-US" dirty="0" err="1"/>
              <a:t>ArrayLists</a:t>
            </a:r>
            <a:endParaRPr lang="en-US" dirty="0"/>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411481028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58FE82-9CC8-EA64-AEDF-79BEA84B7E4C}"/>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36A5040-A1E9-CE6A-E50C-C3B6F912D0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C7CB7B8D-8881-78B1-7E9B-E5759D31EC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BA7F11B8-4763-C694-EA75-957696D937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735B8525-03B6-A247-BC36-5BF74D683B2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890437F6-03FF-AF46-87D6-23E8C31C18B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3BFE060C-C2D9-CA4B-8842-35105379E9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A80CB6D9-9A43-FFA8-FFA1-497E83D30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B7934F13-DE95-F3DB-9C40-496162B5926E}"/>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099C1524-E717-7062-31C0-E9B1DFDE84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A9A508E-BC4D-2923-B570-0B4F808B0876}"/>
              </a:ext>
            </a:extLst>
          </p:cNvPr>
          <p:cNvSpPr txBox="1"/>
          <p:nvPr/>
        </p:nvSpPr>
        <p:spPr>
          <a:xfrm>
            <a:off x="1579864" y="2419680"/>
            <a:ext cx="9601196" cy="3318936"/>
          </a:xfrm>
          <a:prstGeom prst="rect">
            <a:avLst/>
          </a:prstGeom>
        </p:spPr>
        <p:txBody>
          <a:bodyPr vert="horz" lIns="91440" tIns="45720" rIns="91440" bIns="45720" rtlCol="0" anchor="t">
            <a:normAutofit lnSpcReduction="10000"/>
          </a:bodyPr>
          <a:lstStyle/>
          <a:p>
            <a:r>
              <a:rPr lang="en-US" b="1" dirty="0"/>
              <a:t>System Demonstration</a:t>
            </a:r>
          </a:p>
          <a:p>
            <a:endParaRPr lang="en-US" b="1" dirty="0"/>
          </a:p>
          <a:p>
            <a:r>
              <a:rPr lang="en-US" dirty="0"/>
              <a:t>During the demonstration, the following workflow will be shown:</a:t>
            </a:r>
          </a:p>
          <a:p>
            <a:pPr marL="285750" indent="-285750">
              <a:buFont typeface="Arial" panose="020B0604020202020204" pitchFamily="34" charset="0"/>
              <a:buChar char="•"/>
            </a:pPr>
            <a:r>
              <a:rPr lang="en-US" dirty="0"/>
              <a:t>User logs into the system</a:t>
            </a:r>
          </a:p>
          <a:p>
            <a:pPr marL="285750" indent="-285750">
              <a:buFont typeface="Arial" panose="020B0604020202020204" pitchFamily="34" charset="0"/>
              <a:buChar char="•"/>
            </a:pPr>
            <a:r>
              <a:rPr lang="en-US" dirty="0"/>
              <a:t>Customer browses grocery products</a:t>
            </a:r>
          </a:p>
          <a:p>
            <a:pPr marL="285750" indent="-285750">
              <a:buFont typeface="Arial" panose="020B0604020202020204" pitchFamily="34" charset="0"/>
              <a:buChar char="•"/>
            </a:pPr>
            <a:r>
              <a:rPr lang="en-US" dirty="0"/>
              <a:t>Customer adds items to the shopping cart</a:t>
            </a:r>
          </a:p>
          <a:p>
            <a:pPr marL="285750" indent="-285750">
              <a:buFont typeface="Arial" panose="020B0604020202020204" pitchFamily="34" charset="0"/>
              <a:buChar char="•"/>
            </a:pPr>
            <a:r>
              <a:rPr lang="en-US" dirty="0"/>
              <a:t>Customer places a delivery order</a:t>
            </a:r>
          </a:p>
          <a:p>
            <a:pPr marL="285750" indent="-285750">
              <a:buFont typeface="Arial" panose="020B0604020202020204" pitchFamily="34" charset="0"/>
              <a:buChar char="•"/>
            </a:pPr>
            <a:r>
              <a:rPr lang="en-US" dirty="0"/>
              <a:t>Manager assigns delivery staff</a:t>
            </a:r>
          </a:p>
          <a:p>
            <a:pPr marL="285750" indent="-285750">
              <a:buFont typeface="Arial" panose="020B0604020202020204" pitchFamily="34" charset="0"/>
              <a:buChar char="•"/>
            </a:pPr>
            <a:r>
              <a:rPr lang="en-US" dirty="0"/>
              <a:t>Delivery staff update delivery status</a:t>
            </a:r>
          </a:p>
          <a:p>
            <a:pPr marL="285750" indent="-285750">
              <a:buFont typeface="Arial" panose="020B0604020202020204" pitchFamily="34" charset="0"/>
              <a:buChar char="•"/>
            </a:pPr>
            <a:r>
              <a:rPr lang="en-US" dirty="0"/>
              <a:t>Customer tracks the delivery progress</a:t>
            </a:r>
          </a:p>
          <a:p>
            <a:endParaRPr lang="en-US" dirty="0"/>
          </a:p>
          <a:p>
            <a:r>
              <a:rPr lang="en-US" dirty="0"/>
              <a:t>This demonstrates how the system supports the complete grocery ordering and delivery workflow</a:t>
            </a: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285351948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46DAEB-FEFE-65C3-9A0E-9DE53B209CA0}"/>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71A9921-6ABB-FA01-D834-FF76C9CBAD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1BE23B65-2678-FE8B-2C5C-BC716DE650A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D4510F8A-4294-AF91-2D70-A08A10FA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DC31556D-FE1D-9ED2-F3DC-A4583BC85F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E74D3977-38AC-6F3E-BEE1-0E90AEB5A2F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32B0D49D-C740-4847-43D7-B4337762EF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E514100-5EFE-5890-BDA5-F70678367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E7673B8F-098B-651C-FB56-C05F5AFB0081}"/>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A77DBDC3-9D3F-76BD-B6D4-3C8193BB46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97D38B8-C004-B38E-5913-8798A29BF0BB}"/>
              </a:ext>
            </a:extLst>
          </p:cNvPr>
          <p:cNvSpPr txBox="1"/>
          <p:nvPr/>
        </p:nvSpPr>
        <p:spPr>
          <a:xfrm>
            <a:off x="1579864" y="2419680"/>
            <a:ext cx="9601196" cy="3318936"/>
          </a:xfrm>
          <a:prstGeom prst="rect">
            <a:avLst/>
          </a:prstGeom>
        </p:spPr>
        <p:txBody>
          <a:bodyPr vert="horz" lIns="91440" tIns="45720" rIns="91440" bIns="45720" rtlCol="0" anchor="t">
            <a:normAutofit/>
          </a:bodyPr>
          <a:lstStyle/>
          <a:p>
            <a:pPr algn="ctr"/>
            <a:r>
              <a:rPr lang="en-US" b="1" dirty="0"/>
              <a:t>Future Development</a:t>
            </a:r>
          </a:p>
          <a:p>
            <a:r>
              <a:rPr lang="en-US" dirty="0"/>
              <a:t>Additional features could include:</a:t>
            </a:r>
          </a:p>
          <a:p>
            <a:endParaRPr lang="en-US" dirty="0"/>
          </a:p>
          <a:p>
            <a:r>
              <a:rPr lang="en-US" dirty="0"/>
              <a:t>• Integration with payment processing systems</a:t>
            </a:r>
            <a:br>
              <a:rPr lang="en-US" dirty="0"/>
            </a:br>
            <a:r>
              <a:rPr lang="en-US" dirty="0"/>
              <a:t>• Real-time inventory synchronization with store databases</a:t>
            </a:r>
            <a:br>
              <a:rPr lang="en-US" dirty="0"/>
            </a:br>
            <a:r>
              <a:rPr lang="en-US" dirty="0"/>
              <a:t>• Mobile application support</a:t>
            </a:r>
            <a:br>
              <a:rPr lang="en-US" dirty="0"/>
            </a:br>
            <a:r>
              <a:rPr lang="en-US" dirty="0"/>
              <a:t>• Enhanced delivery route optimization</a:t>
            </a:r>
            <a:br>
              <a:rPr lang="en-US" dirty="0"/>
            </a:br>
            <a:r>
              <a:rPr lang="en-US" dirty="0"/>
              <a:t>• Notifications via email or SMS</a:t>
            </a:r>
          </a:p>
          <a:p>
            <a:endParaRPr lang="en-US" dirty="0"/>
          </a:p>
          <a:p>
            <a:r>
              <a:rPr lang="en-US" dirty="0"/>
              <a:t>These improvements would further enhance usability and scalability for larger grocery store operations.</a:t>
            </a:r>
          </a:p>
        </p:txBody>
      </p:sp>
    </p:spTree>
    <p:extLst>
      <p:ext uri="{BB962C8B-B14F-4D97-AF65-F5344CB8AC3E}">
        <p14:creationId xmlns:p14="http://schemas.microsoft.com/office/powerpoint/2010/main" val="610405298"/>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12</TotalTime>
  <Words>348</Words>
  <Application>Microsoft Office PowerPoint</Application>
  <PresentationFormat>Widescreen</PresentationFormat>
  <Paragraphs>88</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Garamond</vt:lpstr>
      <vt:lpstr>Organic</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Susan L Rogers</dc:creator>
  <cp:lastModifiedBy>Rogers, Susan L</cp:lastModifiedBy>
  <cp:revision>3</cp:revision>
  <dcterms:created xsi:type="dcterms:W3CDTF">2026-03-08T02:41:20Z</dcterms:created>
  <dcterms:modified xsi:type="dcterms:W3CDTF">2026-03-08T02:54:04Z</dcterms:modified>
</cp:coreProperties>
</file>